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5D2A23-9978-4166-959F-D02601FD18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8FEA34-F5E7-4849-A0AC-2DC7F04B1A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C0EF29-F944-403B-9D23-EC1A3AE76D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44DC02-ADCE-4E4C-B206-85DC43F9A5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342B7D-B41A-40F1-8B1F-2BAA4BBB36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B703D1-0ABD-45CD-8260-12F9B6A2FC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83D31A-4B31-41BC-9259-5B3A2D9D46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24AF40-BA09-4B77-9473-6AF16B587B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2A9E71-3E54-44A2-AF2E-0EFFC3BCEE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A30E63-B857-4749-95BF-1D37B8A418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40BA5B-30CC-48D3-BE80-6D1EF578BC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822960" y="155448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CS 331 COMPUTER NETWORKS  ·  2026-27 SEMESTER 1  ·  PROJECT 16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822960" y="2011680"/>
            <a:ext cx="10515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Mini-Katran: High-Performance L4 Load Balancing with eBPF and XDP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822960" y="370332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A small load balancer that runs inside the Linux kernel, compared with the usual user-space 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822960" y="4434840"/>
            <a:ext cx="1462680" cy="4068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822960" y="46177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Team T020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822960" y="49834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Akshit Chhabra (24110026)  ·  Bhavay Goyal (24110070)  ·  Devarshi Savalgi (24110103)  ·  Kunal Chandola (24110176)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822960" y="59436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September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502920" y="29268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Problem Statement &amp; Objectives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548640" y="987480"/>
            <a:ext cx="1462680" cy="4068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50292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Mini-Katran: L4 load balancing with eBPF and XDP  ·  CS 331  ·  Team T020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10789920" y="6446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1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6"/>
          <p:cNvSpPr/>
          <p:nvPr/>
        </p:nvSpPr>
        <p:spPr>
          <a:xfrm>
            <a:off x="548640" y="1280160"/>
            <a:ext cx="5394600" cy="383760"/>
          </a:xfrm>
          <a:prstGeom prst="rect">
            <a:avLst/>
          </a:prstGeom>
          <a:solidFill>
            <a:srgbClr val="E2EF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621720" y="1316880"/>
            <a:ext cx="524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The problem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548640" y="1783080"/>
            <a:ext cx="539460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A load balancer takes traffic sent to one public address (the </a:t>
            </a: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VIP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) and spreads it over several backend servers.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All packets of one TCP connection must keep going to the </a:t>
            </a: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same backend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A load balancer written as a normal program only sees a packet after the kernel has processed it and copied it to user space. At 10 Gbit/s that is about </a:t>
            </a: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a microsecond per packet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, and the kernel work becomes the bottleneck.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Katran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(Facebook) does the forwarding inside the network driver, in an eBPF program at the </a:t>
            </a: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XDP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hook, before any of that happens.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9"/>
          <p:cNvSpPr/>
          <p:nvPr/>
        </p:nvSpPr>
        <p:spPr>
          <a:xfrm>
            <a:off x="6309360" y="1280160"/>
            <a:ext cx="5394600" cy="383760"/>
          </a:xfrm>
          <a:prstGeom prst="rect">
            <a:avLst/>
          </a:prstGeom>
          <a:solidFill>
            <a:srgbClr val="E2EF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6382440" y="1316880"/>
            <a:ext cx="524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Objectives (from the brief)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6309360" y="1783080"/>
            <a:ext cx="539460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Build a simple </a:t>
            </a: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user-space L4 load balancer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as the baseline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Build the </a:t>
            </a: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XDP version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: parse Ethernet / IPv4 / TCP, keep connection state in </a:t>
            </a: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eBPF maps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, pick a backend with </a:t>
            </a: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consistent hashing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Rewrite the destination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, recompute the L3 / L4 checksums, forward without leaving the kernel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Compare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the two on the same testbed and explain the difference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502920" y="29268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Architecture / Mechanism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548640" y="987480"/>
            <a:ext cx="1462680" cy="4068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50292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Mini-Katran: L4 load balancing with eBPF and XDP  ·  CS 331  ·  Team T020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10789920" y="6446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2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6" descr="fig-seq.png"/>
          <p:cNvPicPr/>
          <p:nvPr/>
        </p:nvPicPr>
        <p:blipFill>
          <a:blip r:embed="rId1"/>
          <a:stretch/>
        </p:blipFill>
        <p:spPr>
          <a:xfrm>
            <a:off x="548640" y="1234440"/>
            <a:ext cx="6674760" cy="21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7" descr="fig-topo.png"/>
          <p:cNvPicPr/>
          <p:nvPr/>
        </p:nvPicPr>
        <p:blipFill>
          <a:blip r:embed="rId2"/>
          <a:stretch/>
        </p:blipFill>
        <p:spPr>
          <a:xfrm>
            <a:off x="685800" y="3520440"/>
            <a:ext cx="6309000" cy="273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Rectangle 8"/>
          <p:cNvSpPr/>
          <p:nvPr/>
        </p:nvSpPr>
        <p:spPr>
          <a:xfrm>
            <a:off x="7498080" y="1280160"/>
            <a:ext cx="4205880" cy="383760"/>
          </a:xfrm>
          <a:prstGeom prst="rect">
            <a:avLst/>
          </a:prstGeom>
          <a:solidFill>
            <a:srgbClr val="E2EF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7571160" y="1316880"/>
            <a:ext cx="405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What happens to each packet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7498080" y="1783080"/>
            <a:ext cx="42058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Read the Ethernet, IP and TCP headers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Known connection?</a:t>
            </a:r>
            <a:r>
              <a:rPr lang="en-US" sz="12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A map in the kernel remembers which backend it went 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New connection?</a:t>
            </a:r>
            <a:r>
              <a:rPr lang="en-US" sz="12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Hash the client onto a ring of backends (consistent hashing: adding or removing a backend moves few connections)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Rewrite the destination IP and MAC to the backend, fix the IP and TCP checksums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Send it straight back out of the same interface (</a:t>
            </a:r>
            <a:r>
              <a:rPr lang="en-US" sz="12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XDP_TX</a:t>
            </a:r>
            <a:r>
              <a:rPr lang="en-US" sz="12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Replies come back through the LB and get their source set back to the VIP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11"/>
          <p:cNvSpPr/>
          <p:nvPr/>
        </p:nvSpPr>
        <p:spPr>
          <a:xfrm>
            <a:off x="7498080" y="5074920"/>
            <a:ext cx="4205880" cy="383760"/>
          </a:xfrm>
          <a:prstGeom prst="rect">
            <a:avLst/>
          </a:prstGeom>
          <a:solidFill>
            <a:srgbClr val="E2EF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2"/>
          <p:cNvSpPr/>
          <p:nvPr/>
        </p:nvSpPr>
        <p:spPr>
          <a:xfrm>
            <a:off x="7571160" y="5111640"/>
            <a:ext cx="405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Control plane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3"/>
          <p:cNvSpPr/>
          <p:nvPr/>
        </p:nvSpPr>
        <p:spPr>
          <a:xfrm>
            <a:off x="7498080" y="5532120"/>
            <a:ext cx="4205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A small user-space tool loads the program and fills its maps with the VIP and the backends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502920" y="29268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Evaluation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548640" y="987480"/>
            <a:ext cx="1462680" cy="4068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50292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Mini-Katran: L4 load balancing with eBPF and XDP  ·  CS 331  ·  Team T020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10789920" y="6446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3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9" name="Table 6"/>
          <p:cNvGraphicFramePr/>
          <p:nvPr/>
        </p:nvGraphicFramePr>
        <p:xfrm>
          <a:off x="548640" y="1234440"/>
          <a:ext cx="11155320" cy="17550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1828800"/>
                <a:gridCol w="2194560"/>
                <a:gridCol w="1828800"/>
              </a:tblGrid>
              <a:tr h="329040">
                <a:tc>
                  <a:txBody>
                    <a:bodyPr tIns="36360" bIns="36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mode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EFF4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throughput, 4 streams (Gbit/s)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EFF4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connections / 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EFF4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request latency p50 (µs)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EFF4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machine CPU per GB (s)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EFF4"/>
                    </a:solidFill>
                  </a:tcPr>
                </a:tc>
              </a:tr>
              <a:tr h="329040">
                <a:tc>
                  <a:txBody>
                    <a:bodyPr tIns="36360" bIns="36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no load balancer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39.3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86,136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30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1.84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tIns="36360" bIns="36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TCP proxy (user space)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12.0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41,706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52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2.95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tIns="36360" bIns="36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raw socket forwarder (user space)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5.7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51,606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45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5.19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tIns="36360" bIns="363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XDP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18.5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73,728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33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tIns="36360" bIns="3636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202A"/>
                          </a:solidFill>
                          <a:effectLst/>
                          <a:uFillTx/>
                          <a:latin typeface="Arial"/>
                        </a:rPr>
                        <a:t>2.43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</a:tbl>
          </a:graphicData>
        </a:graphic>
      </p:graphicFrame>
      <p:pic>
        <p:nvPicPr>
          <p:cNvPr id="100" name="Picture 7" descr="overview.png"/>
          <p:cNvPicPr/>
          <p:nvPr/>
        </p:nvPicPr>
        <p:blipFill>
          <a:blip r:embed="rId1"/>
          <a:stretch/>
        </p:blipFill>
        <p:spPr>
          <a:xfrm>
            <a:off x="548640" y="3017520"/>
            <a:ext cx="4937400" cy="345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8"/>
          <p:cNvSpPr/>
          <p:nvPr/>
        </p:nvSpPr>
        <p:spPr>
          <a:xfrm>
            <a:off x="5852160" y="3017520"/>
            <a:ext cx="5851800" cy="383760"/>
          </a:xfrm>
          <a:prstGeom prst="rect">
            <a:avLst/>
          </a:prstGeom>
          <a:solidFill>
            <a:srgbClr val="E2EF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9"/>
          <p:cNvSpPr/>
          <p:nvPr/>
        </p:nvSpPr>
        <p:spPr>
          <a:xfrm>
            <a:off x="5925240" y="3054240"/>
            <a:ext cx="570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Reading 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852160" y="3474720"/>
            <a:ext cx="58518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Throughput:</a:t>
            </a:r>
            <a:r>
              <a:rPr lang="en-US" sz="13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the proxy is one process on one core and stays at 12 Gbit/s. XDP spreads over the interface's queues: </a:t>
            </a:r>
            <a:r>
              <a:rPr lang="en-US" sz="13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1.5×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Connections per second:</a:t>
            </a:r>
            <a:r>
              <a:rPr lang="en-US" sz="13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</a:t>
            </a:r>
            <a:r>
              <a:rPr lang="en-US" sz="13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1.8×</a:t>
            </a:r>
            <a:r>
              <a:rPr lang="en-US" sz="13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the proxy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Latency:</a:t>
            </a:r>
            <a:r>
              <a:rPr lang="en-US" sz="13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XDP adds </a:t>
            </a:r>
            <a:r>
              <a:rPr lang="en-US" sz="13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3 µs</a:t>
            </a:r>
            <a:r>
              <a:rPr lang="en-US" sz="13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to a request, the proxy adds </a:t>
            </a:r>
            <a:r>
              <a:rPr lang="en-US" sz="13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22 µs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CPU per GB:</a:t>
            </a:r>
            <a:r>
              <a:rPr lang="en-US" sz="13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XDP is the closest to running no load balancer at all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Same testbed for every row, 5 s tests, 3 repetitions, median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502920" y="29268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Extensions &amp; Issues Fixed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3"/>
          <p:cNvSpPr/>
          <p:nvPr/>
        </p:nvSpPr>
        <p:spPr>
          <a:xfrm>
            <a:off x="548640" y="987480"/>
            <a:ext cx="1462680" cy="4068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50292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Mini-Katran: L4 load balancing with eBPF and XDP  ·  CS 331  ·  Team T020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10789920" y="6446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4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6"/>
          <p:cNvSpPr/>
          <p:nvPr/>
        </p:nvSpPr>
        <p:spPr>
          <a:xfrm>
            <a:off x="548640" y="1280160"/>
            <a:ext cx="5394600" cy="383760"/>
          </a:xfrm>
          <a:prstGeom prst="rect">
            <a:avLst/>
          </a:prstGeom>
          <a:solidFill>
            <a:srgbClr val="E2EF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621720" y="1316880"/>
            <a:ext cx="524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Beyond the brief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8"/>
          <p:cNvSpPr/>
          <p:nvPr/>
        </p:nvSpPr>
        <p:spPr>
          <a:xfrm>
            <a:off x="548640" y="1783080"/>
            <a:ext cx="539460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A </a:t>
            </a:r>
            <a:r>
              <a:rPr lang="en-US" sz="15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second baseline</a:t>
            </a: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: the same forwarding logic on a raw socket in user space, so the only difference to XDP is where the code runs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A </a:t>
            </a:r>
            <a:r>
              <a:rPr lang="en-US" sz="15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benchmark script</a:t>
            </a: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and an end-to-end </a:t>
            </a:r>
            <a:r>
              <a:rPr lang="en-US" sz="15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smoke test</a:t>
            </a: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that run every mode the same way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Adding or removing a backend while traffic is running</a:t>
            </a: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, with existing connections carrying 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9"/>
          <p:cNvSpPr/>
          <p:nvPr/>
        </p:nvSpPr>
        <p:spPr>
          <a:xfrm>
            <a:off x="6309360" y="1280160"/>
            <a:ext cx="5394600" cy="383760"/>
          </a:xfrm>
          <a:prstGeom prst="rect">
            <a:avLst/>
          </a:prstGeom>
          <a:solidFill>
            <a:srgbClr val="E2EF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6382440" y="1316880"/>
            <a:ext cx="524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Issues we hit and fixed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1"/>
          <p:cNvSpPr/>
          <p:nvPr/>
        </p:nvSpPr>
        <p:spPr>
          <a:xfrm>
            <a:off x="6309360" y="1783080"/>
            <a:ext cx="539460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Sending packets back out of a </a:t>
            </a:r>
            <a:r>
              <a:rPr lang="en-US" sz="15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veth</a:t>
            </a: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did nothing until the other end of the pair also had an XDP program attached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Throughput did not grow with more streams until the virtual interfaces were given </a:t>
            </a:r>
            <a:r>
              <a:rPr lang="en-US" sz="15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more than one queue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Our </a:t>
            </a:r>
            <a:r>
              <a:rPr lang="en-US" sz="15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benchmark tools had bugs of their own</a:t>
            </a:r>
            <a:r>
              <a:rPr lang="en-US" sz="15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: a test server spinning at 100% CPU, results drifting with the laptop's temperature. Fixed, and every number re-measured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02920" y="29268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Non-Functional Testing Parameters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3"/>
          <p:cNvSpPr/>
          <p:nvPr/>
        </p:nvSpPr>
        <p:spPr>
          <a:xfrm>
            <a:off x="548640" y="987480"/>
            <a:ext cx="1462680" cy="4068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50292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Mini-Katran: L4 load balancing with eBPF and XDP  ·  CS 331  ·  Team T020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10789920" y="6446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5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6"/>
          <p:cNvSpPr/>
          <p:nvPr/>
        </p:nvSpPr>
        <p:spPr>
          <a:xfrm>
            <a:off x="548640" y="1280160"/>
            <a:ext cx="5394600" cy="383760"/>
          </a:xfrm>
          <a:prstGeom prst="rect">
            <a:avLst/>
          </a:prstGeom>
          <a:solidFill>
            <a:srgbClr val="E2EF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621720" y="1316880"/>
            <a:ext cx="524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Performance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548640" y="1737360"/>
            <a:ext cx="5394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Throughput, connections per second, request latency and CPU cost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Each measured against a no-load-balancer run on the same testbed, so the load balancer's own cost is visible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9"/>
          <p:cNvSpPr/>
          <p:nvPr/>
        </p:nvSpPr>
        <p:spPr>
          <a:xfrm>
            <a:off x="6309360" y="1280160"/>
            <a:ext cx="5394600" cy="383760"/>
          </a:xfrm>
          <a:prstGeom prst="rect">
            <a:avLst/>
          </a:prstGeom>
          <a:solidFill>
            <a:srgbClr val="E2EF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6382440" y="1316880"/>
            <a:ext cx="524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Scalability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6309360" y="1737360"/>
            <a:ext cx="5394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XDP throughput grows with more streams and more interface queues: 11.4 → 18.5 Gbit/s at 4 streams going from 1 to 8 queues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The single-process proxy stays at 12 Gbit/s however many streams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12"/>
          <p:cNvSpPr/>
          <p:nvPr/>
        </p:nvSpPr>
        <p:spPr>
          <a:xfrm>
            <a:off x="548640" y="3886200"/>
            <a:ext cx="5394600" cy="383760"/>
          </a:xfrm>
          <a:prstGeom prst="rect">
            <a:avLst/>
          </a:prstGeom>
          <a:solidFill>
            <a:srgbClr val="E2EF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621720" y="3922920"/>
            <a:ext cx="524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Reliability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548640" y="4343400"/>
            <a:ext cx="5394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Smoke test on every mode: requests reach both backends, a 10 MB download has the right MD5, iperf3 and the connection test run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A backend removed in the middle of a transfer: the transfer keeps going, new connections go to the remaining backend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15"/>
          <p:cNvSpPr/>
          <p:nvPr/>
        </p:nvSpPr>
        <p:spPr>
          <a:xfrm>
            <a:off x="6309360" y="3886200"/>
            <a:ext cx="5394600" cy="383760"/>
          </a:xfrm>
          <a:prstGeom prst="rect">
            <a:avLst/>
          </a:prstGeom>
          <a:solidFill>
            <a:srgbClr val="E2EF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16"/>
          <p:cNvSpPr/>
          <p:nvPr/>
        </p:nvSpPr>
        <p:spPr>
          <a:xfrm>
            <a:off x="6382440" y="3922920"/>
            <a:ext cx="524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6C8B"/>
                </a:solidFill>
                <a:effectLst/>
                <a:uFillTx/>
                <a:latin typeface="Arial"/>
              </a:rPr>
              <a:t>Reproducibility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7"/>
          <p:cNvSpPr/>
          <p:nvPr/>
        </p:nvSpPr>
        <p:spPr>
          <a:xfrm>
            <a:off x="6309360" y="4343400"/>
            <a:ext cx="5394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3 repetitions with the modes interleaved, CPU frequency pinned, median reported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Results agree within a few percent between runs; the raw data and the scripts are in the repo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502920" y="29268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Challenges Faced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3"/>
          <p:cNvSpPr/>
          <p:nvPr/>
        </p:nvSpPr>
        <p:spPr>
          <a:xfrm>
            <a:off x="548640" y="987480"/>
            <a:ext cx="1462680" cy="40680"/>
          </a:xfrm>
          <a:prstGeom prst="rect">
            <a:avLst/>
          </a:prstGeom>
          <a:solidFill>
            <a:srgbClr val="0E6C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50292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Mini-Katran: L4 load balancing with eBPF and XDP  ·  CS 331  ·  Team T020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10789920" y="6446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7683"/>
                </a:solidFill>
                <a:effectLst/>
                <a:uFillTx/>
                <a:latin typeface="Arial"/>
              </a:rPr>
              <a:t>6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548640" y="1371600"/>
            <a:ext cx="111553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Learning eBPF from zero.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The kernel only accepts a program it can prove is safe, so every read from the packet needs a bounds check and loops are out. It takes a while to stop fighting that.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Virtual interfaces are not real NICs.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Sending back out, the number of queues and packet ordering all behave differently on veth, and each of those showed up first as a wrong number rather than an error.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Telling a problem in the program from a problem in the testbed.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Running the same test with no load balancer at all settled it more than once.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600" b="1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• Benchmarking on a laptop.</a:t>
            </a:r>
            <a:r>
              <a:rPr lang="en-US" sz="1600" b="0" u="none" strike="noStrike">
                <a:solidFill>
                  <a:srgbClr val="16202A"/>
                </a:solidFill>
                <a:effectLst/>
                <a:uFillTx/>
                <a:latin typeface="Arial"/>
              </a:rPr>
              <a:t> Heat, background load and our own test tools changed the numbers before we found out why.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548640" y="598932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2026-09-11T16:01:18Z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